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embeddedFontLst>
    <p:embeddedFont>
      <p:font typeface="Inter SemiBold"/>
      <p:regular r:id="rId201314"/>
    </p:embeddedFont>
    <p:embeddedFont>
      <p:font typeface="Inter Bold"/>
      <p:regular r:id="rId201315"/>
    </p:embeddedFont>
    <p:embeddedFont>
      <p:font typeface="Inter"/>
      <p:regular r:id="rId201316"/>
    </p:embeddedFont>
    <p:embeddedFont>
      <p:font typeface="Manrope"/>
      <p:regular r:id="rId201317"/>
    </p:embeddedFont>
    <p:embeddedFont>
      <p:font typeface="Manrope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matrix: 193 churners caught, 181 missed, 102 false alarms.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2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6A73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mailto:shashankdeshmukh202@gmail.com" TargetMode="External"/><Relationship Id="rId2" Type="http://schemas.openxmlformats.org/officeDocument/2006/relationships/hyperlink" Target="https://github.com/Shanky2003/customer-churn-prediction?tab=MIT-1-ov-file" TargetMode="Externa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80" y="1168400"/>
            <a:ext cx="7746806" cy="3810000"/>
          </a:xfrm>
          <a:prstGeom prst="rect">
            <a:avLst/>
          </a:prstGeom>
          <a:solidFill>
            <a:srgbClr val="061A1E">
              <a:alpha val="82000"/>
            </a:srgbClr>
          </a:solidFill>
          <a:ln w="12700">
            <a:solidFill>
              <a:srgbClr val="A9DDF0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31869" y="1542415"/>
            <a:ext cx="751821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AI &amp; ML INTERNSHIP PROJECT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231869" y="1864618"/>
            <a:ext cx="6908627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0"/>
              </a:rPr>
              <a:t>Customer Churn Prediction</a:t>
            </a:r>
            <a:endParaRPr lang="en-US" sz="40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0"/>
              </a:rPr>
              <a:t>using Machine Learning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231869" y="2971105"/>
            <a:ext cx="6908627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Presented by: </a:t>
            </a:r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Shashank Deshmukh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Guide: </a:t>
            </a:r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Mr. Md. Ameen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NAVIOTECH SOLUTIONS PVT LTD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581210"/>
            <a:ext cx="408929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3E5C7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01 — THE BUSINESS QUESTION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919287"/>
            <a:ext cx="4089298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0F2238"/>
                </a:solidFill>
                <a:latin typeface="Manrope" pitchFamily="34" charset="0"/>
                <a:ea typeface="Manrope" pitchFamily="34" charset="-122"/>
                <a:cs typeface="Manrope" pitchFamily="34" charset="0"/>
              </a:rPr>
              <a:t>Customer churn is costly and predictable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609585" y="4597400"/>
            <a:ext cx="1349341" cy="38100"/>
          </a:xfrm>
          <a:prstGeom prst="roundRect">
            <a:avLst>
              <a:gd name="adj" fmla="val 49999"/>
            </a:avLst>
          </a:prstGeom>
          <a:solidFill>
            <a:srgbClr val="E8744F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4784725"/>
            <a:ext cx="408929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E2A3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Account and service data can reveal who is most likely to leave.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03576" y="1282303"/>
            <a:ext cx="3213020" cy="2070497"/>
          </a:xfrm>
          <a:prstGeom prst="roundRect">
            <a:avLst>
              <a:gd name="adj" fmla="val 552"/>
            </a:avLst>
          </a:prstGeom>
          <a:solidFill>
            <a:srgbClr val="EAF6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2170" y="1510903"/>
            <a:ext cx="355591" cy="355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232170" y="1994562"/>
            <a:ext cx="2755831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0"/>
              </a:rPr>
              <a:t>Revenue at risk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232170" y="2377678"/>
            <a:ext cx="2755831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Telecom customers can switch providers easily, putting recurring revenue at risk.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368991" y="1282303"/>
            <a:ext cx="3213119" cy="2070497"/>
          </a:xfrm>
          <a:prstGeom prst="roundRect">
            <a:avLst>
              <a:gd name="adj" fmla="val 552"/>
            </a:avLst>
          </a:prstGeom>
          <a:solidFill>
            <a:srgbClr val="EAF6F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7586" y="1510903"/>
            <a:ext cx="355591" cy="355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597586" y="1994562"/>
            <a:ext cx="275593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0"/>
              </a:rPr>
              <a:t>Retention matters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8597586" y="2377678"/>
            <a:ext cx="275593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Retention is cheaper than acquiring a new customer.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003576" y="3505200"/>
            <a:ext cx="3213020" cy="2070497"/>
          </a:xfrm>
          <a:prstGeom prst="roundRect">
            <a:avLst>
              <a:gd name="adj" fmla="val 552"/>
            </a:avLst>
          </a:prstGeom>
          <a:solidFill>
            <a:srgbClr val="EAF6F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2170" y="3733800"/>
            <a:ext cx="355591" cy="355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32170" y="4217459"/>
            <a:ext cx="2755831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0"/>
              </a:rPr>
              <a:t>Predict early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5232170" y="4600575"/>
            <a:ext cx="275583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Predict churn from account and service data.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8368991" y="3505200"/>
            <a:ext cx="3213119" cy="2070497"/>
          </a:xfrm>
          <a:prstGeom prst="roundRect">
            <a:avLst>
              <a:gd name="adj" fmla="val 552"/>
            </a:avLst>
          </a:prstGeom>
          <a:solidFill>
            <a:srgbClr val="0A3F46"/>
          </a:solidFill>
          <a:ln/>
        </p:spPr>
      </p:sp>
      <p:sp>
        <p:nvSpPr>
          <p:cNvPr id="19" name="Text 14"/>
          <p:cNvSpPr/>
          <p:nvPr/>
        </p:nvSpPr>
        <p:spPr>
          <a:xfrm>
            <a:off x="8597586" y="3757084"/>
            <a:ext cx="275593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0"/>
              </a:rPr>
              <a:t>26.54%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8597586" y="4140200"/>
            <a:ext cx="275593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Churn, creating an imbalanced classification problem.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77895" y="6466086"/>
            <a:ext cx="364907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Customer Churn Prediction using Machine Learning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11937999" y="6466086"/>
            <a:ext cx="253696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315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3E5C7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02 — PROJECT SCOPE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53393"/>
            <a:ext cx="10972526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0F2238"/>
                </a:solidFill>
                <a:latin typeface="Manrope" pitchFamily="34" charset="0"/>
                <a:ea typeface="Manrope" pitchFamily="34" charset="-122"/>
                <a:cs typeface="Manrope" pitchFamily="34" charset="0"/>
              </a:rPr>
              <a:t>Objectives: build, compare, and explain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09585" y="2317055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E2A3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 complete workflow from dataset understanding to interpretable model results.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585" y="2769096"/>
            <a:ext cx="80206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A3F46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585" y="3018036"/>
            <a:ext cx="3505112" cy="19050"/>
          </a:xfrm>
          <a:prstGeom prst="rect">
            <a:avLst/>
          </a:prstGeom>
          <a:solidFill>
            <a:srgbClr val="0A3F46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3167030"/>
            <a:ext cx="3505112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4A5B6E"/>
                </a:solidFill>
                <a:latin typeface="Manrope" pitchFamily="34" charset="0"/>
                <a:ea typeface="Manrope" pitchFamily="34" charset="-122"/>
                <a:cs typeface="Manrope" pitchFamily="34" charset="0"/>
              </a:rPr>
              <a:t>Explore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09585" y="3550146"/>
            <a:ext cx="3505112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E2A3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Explore and understand the Telco Customer Churn dataset.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19489" y="2769096"/>
            <a:ext cx="83768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A3F46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19489" y="3018036"/>
            <a:ext cx="3403416" cy="19050"/>
          </a:xfrm>
          <a:prstGeom prst="rect">
            <a:avLst/>
          </a:prstGeom>
          <a:solidFill>
            <a:srgbClr val="0A3F46"/>
          </a:solidFill>
          <a:ln/>
        </p:spPr>
      </p:sp>
      <p:sp>
        <p:nvSpPr>
          <p:cNvPr id="11" name="Text 9"/>
          <p:cNvSpPr/>
          <p:nvPr/>
        </p:nvSpPr>
        <p:spPr>
          <a:xfrm>
            <a:off x="4419489" y="3167030"/>
            <a:ext cx="340351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4A5B6E"/>
                </a:solidFill>
                <a:latin typeface="Manrope" pitchFamily="34" charset="0"/>
                <a:ea typeface="Manrope" pitchFamily="34" charset="-122"/>
                <a:cs typeface="Manrope" pitchFamily="34" charset="0"/>
              </a:rPr>
              <a:t>Prepare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19489" y="3550146"/>
            <a:ext cx="340351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E2A3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Clean, encode, scale, and split the data.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7797" y="2769096"/>
            <a:ext cx="84006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A3F46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27797" y="3018036"/>
            <a:ext cx="3454314" cy="19050"/>
          </a:xfrm>
          <a:prstGeom prst="rect">
            <a:avLst/>
          </a:prstGeom>
          <a:solidFill>
            <a:srgbClr val="0A3F46"/>
          </a:solidFill>
          <a:ln/>
        </p:spPr>
      </p:sp>
      <p:sp>
        <p:nvSpPr>
          <p:cNvPr id="15" name="Text 13"/>
          <p:cNvSpPr/>
          <p:nvPr/>
        </p:nvSpPr>
        <p:spPr>
          <a:xfrm>
            <a:off x="8127797" y="3167030"/>
            <a:ext cx="345431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4A5B6E"/>
                </a:solidFill>
                <a:latin typeface="Manrope" pitchFamily="34" charset="0"/>
                <a:ea typeface="Manrope" pitchFamily="34" charset="-122"/>
                <a:cs typeface="Manrope" pitchFamily="34" charset="0"/>
              </a:rPr>
              <a:t>Compare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127797" y="3550146"/>
            <a:ext cx="345431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E2A3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Compare Logistic Regression, Random Forest, and Gradient Boosting.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9585" y="4352627"/>
            <a:ext cx="84532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A3F46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9585" y="4601567"/>
            <a:ext cx="3505112" cy="19050"/>
          </a:xfrm>
          <a:prstGeom prst="rect">
            <a:avLst/>
          </a:prstGeom>
          <a:solidFill>
            <a:srgbClr val="0A3F46"/>
          </a:solidFill>
          <a:ln/>
        </p:spPr>
      </p:sp>
      <p:sp>
        <p:nvSpPr>
          <p:cNvPr id="19" name="Text 17"/>
          <p:cNvSpPr/>
          <p:nvPr/>
        </p:nvSpPr>
        <p:spPr>
          <a:xfrm>
            <a:off x="609585" y="4750561"/>
            <a:ext cx="3505112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4A5B6E"/>
                </a:solidFill>
                <a:latin typeface="Manrope" pitchFamily="34" charset="0"/>
                <a:ea typeface="Manrope" pitchFamily="34" charset="-122"/>
                <a:cs typeface="Manrope" pitchFamily="34" charset="0"/>
              </a:rPr>
              <a:t>Evaluate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09585" y="5133677"/>
            <a:ext cx="3505112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E2A3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Evaluate accuracy, precision, recall, F1-score, and ROC-AUC.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419489" y="4352627"/>
            <a:ext cx="83579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A3F46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05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419489" y="4601567"/>
            <a:ext cx="7162621" cy="19050"/>
          </a:xfrm>
          <a:prstGeom prst="rect">
            <a:avLst/>
          </a:prstGeom>
          <a:solidFill>
            <a:srgbClr val="0A3F46"/>
          </a:solidFill>
          <a:ln/>
        </p:spPr>
      </p:sp>
      <p:sp>
        <p:nvSpPr>
          <p:cNvPr id="23" name="Text 21"/>
          <p:cNvSpPr/>
          <p:nvPr/>
        </p:nvSpPr>
        <p:spPr>
          <a:xfrm>
            <a:off x="4419489" y="4750561"/>
            <a:ext cx="7162621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4A5B6E"/>
                </a:solidFill>
                <a:latin typeface="Manrope" pitchFamily="34" charset="0"/>
                <a:ea typeface="Manrope" pitchFamily="34" charset="-122"/>
                <a:cs typeface="Manrope" pitchFamily="34" charset="0"/>
              </a:rPr>
              <a:t>Explain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419489" y="5133677"/>
            <a:ext cx="716262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E2A3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Identify the factors most associated with churn.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77895" y="6466086"/>
            <a:ext cx="364907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Customer Churn Prediction using Machine Learning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937007" y="6466086"/>
            <a:ext cx="25468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315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3E5C7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03 — DATASET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53393"/>
            <a:ext cx="10972526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0F2238"/>
                </a:solidFill>
                <a:latin typeface="Manrope" pitchFamily="34" charset="0"/>
                <a:ea typeface="Manrope" pitchFamily="34" charset="-122"/>
                <a:cs typeface="Manrope" pitchFamily="34" charset="0"/>
              </a:rPr>
              <a:t>The dataset captures customers, services, and contracts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09585" y="2317055"/>
            <a:ext cx="1097252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E2A3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Telco Customer Churn dataset from Kaggle / IBM · 18 object, 2 integer, 1 float columns · 0 reported missing values; 11 blank TotalCharges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2967137"/>
            <a:ext cx="2628834" cy="1112441"/>
          </a:xfrm>
          <a:prstGeom prst="rect">
            <a:avLst/>
          </a:prstGeom>
          <a:solidFill>
            <a:srgbClr val="2F6A73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3219020"/>
            <a:ext cx="217164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0"/>
              </a:rPr>
              <a:t>7,043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38179" y="3602137"/>
            <a:ext cx="240024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customers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90815" y="2967137"/>
            <a:ext cx="2628834" cy="1112441"/>
          </a:xfrm>
          <a:prstGeom prst="rect">
            <a:avLst/>
          </a:prstGeom>
          <a:solidFill>
            <a:srgbClr val="2F6A73"/>
          </a:solidFill>
          <a:ln/>
        </p:spPr>
      </p:sp>
      <p:sp>
        <p:nvSpPr>
          <p:cNvPr id="9" name="Text 7"/>
          <p:cNvSpPr/>
          <p:nvPr/>
        </p:nvSpPr>
        <p:spPr>
          <a:xfrm>
            <a:off x="3619409" y="3219020"/>
            <a:ext cx="217164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0"/>
              </a:rPr>
              <a:t>21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19409" y="3602137"/>
            <a:ext cx="240024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columns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046" y="2967137"/>
            <a:ext cx="2628834" cy="1112441"/>
          </a:xfrm>
          <a:prstGeom prst="rect">
            <a:avLst/>
          </a:prstGeom>
          <a:solidFill>
            <a:srgbClr val="0A3F4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640" y="3219020"/>
            <a:ext cx="217164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0"/>
              </a:rPr>
              <a:t>1,869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640" y="3602137"/>
            <a:ext cx="240024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churned · 26.54%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953276" y="2967137"/>
            <a:ext cx="2628834" cy="1112441"/>
          </a:xfrm>
          <a:prstGeom prst="rect">
            <a:avLst/>
          </a:prstGeom>
          <a:solidFill>
            <a:srgbClr val="2F6A73"/>
          </a:solidFill>
          <a:ln/>
        </p:spPr>
      </p:sp>
      <p:sp>
        <p:nvSpPr>
          <p:cNvPr id="15" name="Text 13"/>
          <p:cNvSpPr/>
          <p:nvPr/>
        </p:nvSpPr>
        <p:spPr>
          <a:xfrm>
            <a:off x="9181870" y="3219020"/>
            <a:ext cx="217164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0"/>
              </a:rPr>
              <a:t>5,174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81870" y="3602137"/>
            <a:ext cx="240024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stayed · 73.46%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4257377"/>
          <a:ext cx="10972526" cy="914400"/>
        </p:xfrm>
        <a:graphic>
          <a:graphicData uri="http://schemas.openxmlformats.org/drawingml/2006/table">
            <a:tbl>
              <a:tblPr/>
              <a:tblGrid>
                <a:gridCol w="2597611"/>
                <a:gridCol w="8107813"/>
                <a:gridCol w="267102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Group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Examples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A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Demographics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Gender, senior citizen, partner, dependents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A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Services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Phone, internet, security, support, streaming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A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Account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Tenure, contract, payment, monthly and total charges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A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Target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Churn: Yes / No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177895" y="6466086"/>
            <a:ext cx="364907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Customer Churn Prediction using Machine Learning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933435" y="6466086"/>
            <a:ext cx="25826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315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3E5C7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04 — FEATURE ENGINEERING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53393"/>
            <a:ext cx="10972526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0F2238"/>
                </a:solidFill>
                <a:latin typeface="Manrope" pitchFamily="34" charset="0"/>
                <a:ea typeface="Manrope" pitchFamily="34" charset="-122"/>
                <a:cs typeface="Manrope" pitchFamily="34" charset="0"/>
              </a:rPr>
              <a:t>Preprocessing turns raw fields into model-ready features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09585" y="2317055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E2A3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The transformation preserves signal while making mixed fields usable for machine learning.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2724646"/>
            <a:ext cx="408374" cy="311150"/>
          </a:xfrm>
          <a:prstGeom prst="roundRect">
            <a:avLst>
              <a:gd name="adj" fmla="val 17142"/>
            </a:avLst>
          </a:prstGeom>
          <a:solidFill>
            <a:srgbClr val="0A3F46"/>
          </a:solidFill>
          <a:ln w="19050">
            <a:solidFill>
              <a:srgbClr val="3853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7532" y="2791321"/>
            <a:ext cx="80206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95754" y="2759571"/>
            <a:ext cx="1038635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E2A3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Convert TotalCharges to numbers; fill 11 blanks with the median.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9585" y="3520777"/>
            <a:ext cx="443993" cy="311150"/>
          </a:xfrm>
          <a:prstGeom prst="roundRect">
            <a:avLst>
              <a:gd name="adj" fmla="val 17142"/>
            </a:avLst>
          </a:prstGeom>
          <a:solidFill>
            <a:srgbClr val="0A3F46"/>
          </a:solidFill>
          <a:ln w="19050">
            <a:solidFill>
              <a:srgbClr val="3853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7532" y="3587452"/>
            <a:ext cx="83768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1373" y="3555702"/>
            <a:ext cx="10350737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E2A3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Drop customerID and encode Yes = 1, No = 0.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9585" y="4316909"/>
            <a:ext cx="446374" cy="311150"/>
          </a:xfrm>
          <a:prstGeom prst="roundRect">
            <a:avLst>
              <a:gd name="adj" fmla="val 17142"/>
            </a:avLst>
          </a:prstGeom>
          <a:solidFill>
            <a:srgbClr val="0A3F46"/>
          </a:solidFill>
          <a:ln w="19050">
            <a:solidFill>
              <a:srgbClr val="3853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7532" y="4383584"/>
            <a:ext cx="84006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3754" y="4351834"/>
            <a:ext cx="1034835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E2A3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One-hot encode 19 categorical attributes; the final feature count is 30 after preprocessing.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585" y="5113139"/>
            <a:ext cx="451632" cy="311150"/>
          </a:xfrm>
          <a:prstGeom prst="roundRect">
            <a:avLst>
              <a:gd name="adj" fmla="val 17142"/>
            </a:avLst>
          </a:prstGeom>
          <a:solidFill>
            <a:srgbClr val="0A3F46"/>
          </a:solidFill>
          <a:ln w="19050">
            <a:solidFill>
              <a:srgbClr val="3853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532" y="5179814"/>
            <a:ext cx="84532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9013" y="5148064"/>
            <a:ext cx="10343097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E2A3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Use a stratified 80/20 split: 5,634 train, 1,409 test.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9585" y="5909370"/>
            <a:ext cx="442108" cy="311150"/>
          </a:xfrm>
          <a:prstGeom prst="roundRect">
            <a:avLst>
              <a:gd name="adj" fmla="val 17142"/>
            </a:avLst>
          </a:prstGeom>
          <a:solidFill>
            <a:srgbClr val="0A3F46"/>
          </a:solidFill>
          <a:ln w="19050">
            <a:solidFill>
              <a:srgbClr val="3853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7532" y="5976045"/>
            <a:ext cx="83579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29488" y="5944295"/>
            <a:ext cx="1035262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E2A3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Standard-scale inputs for Logistic Regression.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9585" y="3285827"/>
            <a:ext cx="10972526" cy="12700"/>
          </a:xfrm>
          <a:prstGeom prst="rect">
            <a:avLst/>
          </a:prstGeom>
          <a:solidFill>
            <a:srgbClr val="2F6A73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585" y="4081959"/>
            <a:ext cx="10972526" cy="12700"/>
          </a:xfrm>
          <a:prstGeom prst="rect">
            <a:avLst/>
          </a:prstGeom>
          <a:solidFill>
            <a:srgbClr val="2F6A73"/>
          </a:solidFill>
          <a:ln/>
        </p:spPr>
      </p:sp>
      <p:sp>
        <p:nvSpPr>
          <p:cNvPr id="22" name="Shape 20"/>
          <p:cNvSpPr/>
          <p:nvPr/>
        </p:nvSpPr>
        <p:spPr>
          <a:xfrm>
            <a:off x="609585" y="4878189"/>
            <a:ext cx="10972526" cy="12700"/>
          </a:xfrm>
          <a:prstGeom prst="rect">
            <a:avLst/>
          </a:prstGeom>
          <a:solidFill>
            <a:srgbClr val="2F6A73"/>
          </a:solidFill>
          <a:ln/>
        </p:spPr>
      </p:sp>
      <p:sp>
        <p:nvSpPr>
          <p:cNvPr id="23" name="Shape 21"/>
          <p:cNvSpPr/>
          <p:nvPr/>
        </p:nvSpPr>
        <p:spPr>
          <a:xfrm>
            <a:off x="609585" y="5674420"/>
            <a:ext cx="10972526" cy="12700"/>
          </a:xfrm>
          <a:prstGeom prst="rect">
            <a:avLst/>
          </a:prstGeom>
          <a:solidFill>
            <a:srgbClr val="2F6A73"/>
          </a:solidFill>
          <a:ln/>
        </p:spPr>
      </p:sp>
      <p:sp>
        <p:nvSpPr>
          <p:cNvPr id="24" name="Text 22"/>
          <p:cNvSpPr/>
          <p:nvPr/>
        </p:nvSpPr>
        <p:spPr>
          <a:xfrm>
            <a:off x="177895" y="6466086"/>
            <a:ext cx="364907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Customer Churn Prediction using Machine Learning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940083" y="6466086"/>
            <a:ext cx="251612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315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3E5C7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05 — END-TO-END PIPELINE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53393"/>
            <a:ext cx="10972526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0F2238"/>
                </a:solidFill>
                <a:latin typeface="Manrope" pitchFamily="34" charset="0"/>
                <a:ea typeface="Manrope" pitchFamily="34" charset="-122"/>
                <a:cs typeface="Manrope" pitchFamily="34" charset="0"/>
              </a:rPr>
              <a:t>Methodology: from raw data to a saved predictor</a:t>
            </a:r>
            <a:endParaRPr lang="en-US" sz="5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298005"/>
            <a:ext cx="9885115" cy="38099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7895" y="6466086"/>
            <a:ext cx="364907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Customer Churn Prediction using Machine Learning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936709" y="6466086"/>
            <a:ext cx="254986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4638"/>
            <a:ext cx="4937696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spc="59" kern="100" dirty="0">
                <a:solidFill>
                  <a:srgbClr val="3E5C7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06 — MODEL DESIGN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9585" y="923653"/>
            <a:ext cx="4759900" cy="1791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700" dirty="0">
                <a:solidFill>
                  <a:srgbClr val="0F2238"/>
                </a:solidFill>
                <a:latin typeface="Manrope" pitchFamily="34" charset="0"/>
                <a:ea typeface="Manrope" pitchFamily="34" charset="-122"/>
                <a:cs typeface="Manrope" pitchFamily="34" charset="0"/>
              </a:rPr>
              <a:t>Three models create a practical comparison</a:t>
            </a:r>
            <a:endParaRPr lang="en-US" sz="4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813745"/>
            <a:ext cx="4049710" cy="311140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61559" y="609600"/>
            <a:ext cx="5120552" cy="1097359"/>
          </a:xfrm>
          <a:prstGeom prst="roundRect">
            <a:avLst>
              <a:gd name="adj" fmla="val 1042"/>
            </a:avLst>
          </a:prstGeom>
          <a:noFill/>
          <a:ln w="19050">
            <a:solidFill>
              <a:srgbClr val="38537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709202" y="881876"/>
            <a:ext cx="4625264" cy="262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900" dirty="0">
                <a:solidFill>
                  <a:srgbClr val="4A5B6E"/>
                </a:solidFill>
                <a:latin typeface="Manrope" pitchFamily="34" charset="0"/>
                <a:ea typeface="Manrope" pitchFamily="34" charset="-122"/>
                <a:cs typeface="Manrope" pitchFamily="34" charset="0"/>
              </a:rPr>
              <a:t>Logistic Regression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709202" y="1237427"/>
            <a:ext cx="4872908" cy="227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Linear baseline with balanced class weights.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61559" y="1859260"/>
            <a:ext cx="5120552" cy="1097558"/>
          </a:xfrm>
          <a:prstGeom prst="roundRect">
            <a:avLst>
              <a:gd name="adj" fmla="val 1041"/>
            </a:avLst>
          </a:prstGeom>
          <a:noFill/>
          <a:ln w="19050">
            <a:solidFill>
              <a:srgbClr val="38537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09202" y="2131536"/>
            <a:ext cx="4625264" cy="262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900" dirty="0">
                <a:solidFill>
                  <a:srgbClr val="4A5B6E"/>
                </a:solidFill>
                <a:latin typeface="Manrope" pitchFamily="34" charset="0"/>
                <a:ea typeface="Manrope" pitchFamily="34" charset="-122"/>
                <a:cs typeface="Manrope" pitchFamily="34" charset="0"/>
              </a:rPr>
              <a:t>Random Forest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709202" y="2487087"/>
            <a:ext cx="4872908" cy="227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300 trees with balanced class weights.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61559" y="3109119"/>
            <a:ext cx="5120552" cy="1097359"/>
          </a:xfrm>
          <a:prstGeom prst="roundRect">
            <a:avLst>
              <a:gd name="adj" fmla="val 1042"/>
            </a:avLst>
          </a:prstGeom>
          <a:noFill/>
          <a:ln w="19050">
            <a:solidFill>
              <a:srgbClr val="38537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09202" y="3381394"/>
            <a:ext cx="4625264" cy="262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900" dirty="0">
                <a:solidFill>
                  <a:srgbClr val="4A5B6E"/>
                </a:solidFill>
                <a:latin typeface="Manrope" pitchFamily="34" charset="0"/>
                <a:ea typeface="Manrope" pitchFamily="34" charset="-122"/>
                <a:cs typeface="Manrope" pitchFamily="34" charset="0"/>
              </a:rPr>
              <a:t>Gradient Boosting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6709202" y="3736945"/>
            <a:ext cx="4872908" cy="227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Sequential trees correct earlier errors.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61559" y="4389316"/>
            <a:ext cx="5120552" cy="3405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A5B6E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Implemented in Python on Google Colab using pandas, scikit-learn, Matplotlib, and Seaborn.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77895" y="6466086"/>
            <a:ext cx="364907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Customer Churn Prediction using Machine Learning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943456" y="6466086"/>
            <a:ext cx="24823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262122"/>
            <a:ext cx="3693127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3E5C7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07 — EVALUATION FRAME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600200"/>
            <a:ext cx="3083542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0F2238"/>
                </a:solidFill>
                <a:latin typeface="Manrope" pitchFamily="34" charset="0"/>
                <a:ea typeface="Manrope" pitchFamily="34" charset="-122"/>
                <a:cs typeface="Manrope" pitchFamily="34" charset="0"/>
              </a:rPr>
              <a:t>Accuracy alone misses the churn problem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609585" y="4862512"/>
            <a:ext cx="1017463" cy="38100"/>
          </a:xfrm>
          <a:prstGeom prst="roundRect">
            <a:avLst>
              <a:gd name="adj" fmla="val 49999"/>
            </a:avLst>
          </a:prstGeom>
          <a:solidFill>
            <a:srgbClr val="E8744F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5103813"/>
            <a:ext cx="3083542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E2A3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Because 73% of customers stay, accuracy alone can be misleading.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69386" y="2234009"/>
          <a:ext cx="6212724" cy="914400"/>
        </p:xfrm>
        <a:graphic>
          <a:graphicData uri="http://schemas.openxmlformats.org/drawingml/2006/table">
            <a:tbl>
              <a:tblPr/>
              <a:tblGrid>
                <a:gridCol w="1553131"/>
                <a:gridCol w="4659593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Metric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Meaning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A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Accuracy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Overall correct predictions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A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Precision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Predicted churners who really churned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Recall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F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Real churners successfully caught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F46"/>
                    </a:solidFill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A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F1-score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Balance of precision and recall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A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ROC-AUC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Ranks churners above non-churners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77895" y="6466086"/>
            <a:ext cx="364907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Customer Churn Prediction using Machine Learning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936908" y="6466086"/>
            <a:ext cx="254787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790"/>
            <a:ext cx="11582110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spc="57" kern="100" dirty="0">
                <a:solidFill>
                  <a:srgbClr val="3E5C7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08 — FEATURE SIGNALS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09585" y="911948"/>
            <a:ext cx="10972526" cy="1157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550" dirty="0">
                <a:solidFill>
                  <a:srgbClr val="0F2238"/>
                </a:solidFill>
                <a:latin typeface="Manrope" pitchFamily="34" charset="0"/>
                <a:ea typeface="Manrope" pitchFamily="34" charset="-122"/>
                <a:cs typeface="Manrope" pitchFamily="34" charset="0"/>
              </a:rPr>
              <a:t>Contract length is the clearest churn signal</a:t>
            </a:r>
            <a:endParaRPr lang="en-US" sz="4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138462"/>
            <a:ext cx="5968851" cy="411668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4918" y="2138462"/>
            <a:ext cx="4267192" cy="1034256"/>
          </a:xfrm>
          <a:prstGeom prst="roundRect">
            <a:avLst>
              <a:gd name="adj" fmla="val 1105"/>
            </a:avLst>
          </a:prstGeom>
          <a:solidFill>
            <a:srgbClr val="0A3F46"/>
          </a:solidFill>
          <a:ln/>
        </p:spPr>
      </p:sp>
      <p:sp>
        <p:nvSpPr>
          <p:cNvPr id="6" name="Text 3"/>
          <p:cNvSpPr/>
          <p:nvPr/>
        </p:nvSpPr>
        <p:spPr>
          <a:xfrm>
            <a:off x="7543512" y="2389131"/>
            <a:ext cx="3810004" cy="254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0"/>
              </a:rPr>
              <a:t>42.7%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543512" y="2730146"/>
            <a:ext cx="4038598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Month-to-month churn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4918" y="3325118"/>
            <a:ext cx="4267192" cy="1034256"/>
          </a:xfrm>
          <a:prstGeom prst="roundRect">
            <a:avLst>
              <a:gd name="adj" fmla="val 1105"/>
            </a:avLst>
          </a:prstGeom>
          <a:solidFill>
            <a:srgbClr val="EAF6FA"/>
          </a:solidFill>
          <a:ln/>
        </p:spPr>
      </p:sp>
      <p:sp>
        <p:nvSpPr>
          <p:cNvPr id="9" name="Text 6"/>
          <p:cNvSpPr/>
          <p:nvPr/>
        </p:nvSpPr>
        <p:spPr>
          <a:xfrm>
            <a:off x="7543512" y="3575787"/>
            <a:ext cx="3810004" cy="254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0"/>
              </a:rPr>
              <a:t>18 months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543512" y="3916802"/>
            <a:ext cx="4038598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Churners' average tenure: 74.44 monthly charges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314918" y="4511774"/>
            <a:ext cx="4267192" cy="1251148"/>
          </a:xfrm>
          <a:prstGeom prst="roundRect">
            <a:avLst>
              <a:gd name="adj" fmla="val 914"/>
            </a:avLst>
          </a:prstGeom>
          <a:solidFill>
            <a:srgbClr val="EAF6FA"/>
          </a:solidFill>
          <a:ln/>
        </p:spPr>
      </p:sp>
      <p:sp>
        <p:nvSpPr>
          <p:cNvPr id="12" name="Text 9"/>
          <p:cNvSpPr/>
          <p:nvPr/>
        </p:nvSpPr>
        <p:spPr>
          <a:xfrm>
            <a:off x="7543512" y="4762443"/>
            <a:ext cx="3810004" cy="254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0"/>
              </a:rPr>
              <a:t>37.6 months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543512" y="5103458"/>
            <a:ext cx="3810004" cy="433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Retained customers' average tenure: 61.27 monthly charges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4918" y="5852128"/>
            <a:ext cx="4267192" cy="325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A5B6E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Additional callouts: fibre-optic churn 41.9%; electronic-check churn 45.3%.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77895" y="6466086"/>
            <a:ext cx="364907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Customer Churn Prediction using Machine Learning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936709" y="6466086"/>
            <a:ext cx="254986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10515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3E5C7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09 — MODEL RESULTS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648593"/>
            <a:ext cx="10972526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0F2238"/>
                </a:solidFill>
                <a:latin typeface="Manrope" pitchFamily="34" charset="0"/>
                <a:ea typeface="Manrope" pitchFamily="34" charset="-122"/>
                <a:cs typeface="Manrope" pitchFamily="34" charset="0"/>
              </a:rPr>
              <a:t>Gradient Boosting leads overall performance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09585" y="2012255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E2A3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Gradient Boosting wins overall; Logistic Regression catches the most churners.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388096"/>
            <a:ext cx="10921727" cy="1968996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4484092"/>
          <a:ext cx="10972526" cy="914400"/>
        </p:xfrm>
        <a:graphic>
          <a:graphicData uri="http://schemas.openxmlformats.org/drawingml/2006/table">
            <a:tbl>
              <a:tblPr/>
              <a:tblGrid>
                <a:gridCol w="3072315"/>
                <a:gridCol w="1536058"/>
                <a:gridCol w="1536058"/>
                <a:gridCol w="1536058"/>
                <a:gridCol w="1536058"/>
                <a:gridCol w="1755978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Model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Accuracy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Precision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Recall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F1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22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ROC-AUC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Logistic Regression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73.9%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50.5%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78.1%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61.3%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0.841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Random Forest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78.9%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63.0%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50.0%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55.7%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0.825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Gradient Boosting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4A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79.9%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4A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65.4%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4A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51.6%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4A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57.7%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4A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0.843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53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4A2A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177895" y="6466086"/>
            <a:ext cx="364907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Customer Churn Prediction using Machine Learning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1884720" y="6466086"/>
            <a:ext cx="30697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315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3E5C7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11 — RESULTS: BEST MODEL DETAILS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53393"/>
            <a:ext cx="10972526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0F2238"/>
                </a:solidFill>
                <a:latin typeface="Manrope" pitchFamily="34" charset="0"/>
                <a:ea typeface="Manrope" pitchFamily="34" charset="-122"/>
                <a:cs typeface="Manrope" pitchFamily="34" charset="0"/>
              </a:rPr>
              <a:t>Gradient Boosting catches churners with fewer false alarms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09585" y="2317055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E2A3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Confusion matrix for Gradient Boosting on the test set, and ROC-AUC for the three main models.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609354"/>
            <a:ext cx="8889778" cy="33793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6067485"/>
            <a:ext cx="1097252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4A5B6E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When the model flags a customer as likely to churn, it is right about 2 out of 3 times.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77895" y="6466086"/>
            <a:ext cx="364907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Customer Churn Prediction using Machine Learning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912600" y="6466086"/>
            <a:ext cx="27909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818"/>
            <a:ext cx="11582110" cy="177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spc="61" kern="100" dirty="0">
                <a:solidFill>
                  <a:srgbClr val="3E5C7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12 — WHAT DRIVES CHURN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9585" y="940033"/>
            <a:ext cx="10972526" cy="1228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850" dirty="0">
                <a:solidFill>
                  <a:srgbClr val="0F2238"/>
                </a:solidFill>
                <a:latin typeface="Manrope" pitchFamily="34" charset="0"/>
                <a:ea typeface="Manrope" pitchFamily="34" charset="-122"/>
                <a:cs typeface="Manrope" pitchFamily="34" charset="0"/>
              </a:rPr>
              <a:t>Price, tenure and contract shape who leaves</a:t>
            </a:r>
            <a:endParaRPr lang="en-US" sz="4850" dirty="0"/>
          </a:p>
        </p:txBody>
      </p:sp>
      <p:sp>
        <p:nvSpPr>
          <p:cNvPr id="4" name="Text 2"/>
          <p:cNvSpPr/>
          <p:nvPr/>
        </p:nvSpPr>
        <p:spPr>
          <a:xfrm>
            <a:off x="609585" y="2252984"/>
            <a:ext cx="11582110" cy="236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A3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Top features from the model, and the business actions they suggest.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585" y="2635548"/>
            <a:ext cx="5333867" cy="3693716"/>
          </a:xfrm>
          <a:prstGeom prst="roundRect">
            <a:avLst>
              <a:gd name="adj" fmla="val 309"/>
            </a:avLst>
          </a:prstGeom>
          <a:solidFill>
            <a:srgbClr val="1F3A5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2864148"/>
            <a:ext cx="4876678" cy="323651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48244" y="2635548"/>
            <a:ext cx="5333867" cy="3693716"/>
          </a:xfrm>
          <a:prstGeom prst="roundRect">
            <a:avLst>
              <a:gd name="adj" fmla="val 309"/>
            </a:avLst>
          </a:prstGeom>
          <a:solidFill>
            <a:srgbClr val="0A3F46"/>
          </a:solidFill>
          <a:ln/>
        </p:spPr>
      </p:sp>
      <p:sp>
        <p:nvSpPr>
          <p:cNvPr id="8" name="Text 5"/>
          <p:cNvSpPr/>
          <p:nvPr/>
        </p:nvSpPr>
        <p:spPr>
          <a:xfrm>
            <a:off x="6476838" y="2886895"/>
            <a:ext cx="4876678" cy="270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0"/>
              </a:rPr>
              <a:t>Business actions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6476838" y="3253085"/>
            <a:ext cx="4876678" cy="1308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74320" indent="-27432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Offer incentives to move month-to-month customers to longer contracts</a:t>
            </a:r>
            <a:endParaRPr lang="en-US" sz="1350" dirty="0"/>
          </a:p>
          <a:p>
            <a:pPr algn="l" marL="274320" indent="-27432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Focus on new customers in their first months</a:t>
            </a:r>
            <a:endParaRPr lang="en-US" sz="1350" dirty="0"/>
          </a:p>
          <a:p>
            <a:pPr algn="l" marL="274320" indent="-27432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Encourage automatic payments</a:t>
            </a:r>
            <a:endParaRPr lang="en-US" sz="1350" dirty="0"/>
          </a:p>
          <a:p>
            <a:pPr algn="l" marL="274320" indent="-27432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Bundle tech support and online security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77895" y="6466086"/>
            <a:ext cx="364907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Customer Churn Prediction using Machine Learning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887399" y="6466086"/>
            <a:ext cx="304296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315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13 — CONCLUSION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53393"/>
            <a:ext cx="10972526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0"/>
              </a:rPr>
              <a:t>A complete churn pipeline with a clear winner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09585" y="2494855"/>
            <a:ext cx="5333867" cy="24173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Built a complete ML pipeline for churn prediction on Google Colab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Gradient Boosting achieved 79.9% accuracy and 0.843 ROC-AUC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Logistic Regression had the highest recall at 78.1%, useful when missing a churner is costly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Model and scaler saved for new customers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Limitations: a small single dataset and no hyperparameter tuning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48244" y="2266255"/>
            <a:ext cx="5333867" cy="2874566"/>
          </a:xfrm>
          <a:prstGeom prst="roundRect">
            <a:avLst>
              <a:gd name="adj" fmla="val 398"/>
            </a:avLst>
          </a:prstGeom>
          <a:solidFill>
            <a:srgbClr val="0A3F46"/>
          </a:solidFill>
          <a:ln/>
        </p:spPr>
      </p:sp>
      <p:sp>
        <p:nvSpPr>
          <p:cNvPr id="6" name="Text 4"/>
          <p:cNvSpPr/>
          <p:nvPr/>
        </p:nvSpPr>
        <p:spPr>
          <a:xfrm>
            <a:off x="6476838" y="2518139"/>
            <a:ext cx="487667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0"/>
              </a:rPr>
              <a:t>79.9%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76838" y="2901255"/>
            <a:ext cx="510527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Gradient Boosting accuracy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76838" y="3300380"/>
            <a:ext cx="487667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0"/>
              </a:rPr>
              <a:t>0.843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76838" y="3683496"/>
            <a:ext cx="510527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Gradient Boosting ROC-AUC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76838" y="4082620"/>
            <a:ext cx="487667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0"/>
              </a:rPr>
              <a:t>78.1%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76838" y="4465737"/>
            <a:ext cx="510527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Logistic Regression recall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7895" y="6466086"/>
            <a:ext cx="364907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Customer Churn Prediction using Machine Learning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886407" y="6466086"/>
            <a:ext cx="30528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315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3E5C7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14 — FUTURE SCOPE AND THANK YOU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53393"/>
            <a:ext cx="10972526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0F2238"/>
                </a:solidFill>
                <a:latin typeface="Manrope" pitchFamily="34" charset="0"/>
                <a:ea typeface="Manrope" pitchFamily="34" charset="-122"/>
                <a:cs typeface="Manrope" pitchFamily="34" charset="0"/>
              </a:rPr>
              <a:t>Next steps for a stronger churn model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09585" y="2494855"/>
            <a:ext cx="6400640" cy="1422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E2A3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Hyperparameter tuning and cross-validation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E2A3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XGBoost, SMOTE and threshold optimization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E2A3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SHAP explainability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E2A3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Streamlit web app or API for live predictions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E2A3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Usage and complaint data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4918" y="2266255"/>
            <a:ext cx="4267192" cy="2931914"/>
          </a:xfrm>
          <a:prstGeom prst="roundRect">
            <a:avLst>
              <a:gd name="adj" fmla="val 390"/>
            </a:avLst>
          </a:prstGeom>
          <a:solidFill>
            <a:srgbClr val="0A3F46"/>
          </a:solidFill>
          <a:ln/>
        </p:spPr>
      </p:sp>
      <p:sp>
        <p:nvSpPr>
          <p:cNvPr id="6" name="Text 4"/>
          <p:cNvSpPr/>
          <p:nvPr/>
        </p:nvSpPr>
        <p:spPr>
          <a:xfrm>
            <a:off x="7543512" y="2533043"/>
            <a:ext cx="3810004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0"/>
              </a:rPr>
              <a:t>Thank you — Questions?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543512" y="3515816"/>
            <a:ext cx="3810004" cy="1453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Shashank Deshmukh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Email: 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u="sng" dirty="0">
                <a:solidFill>
                  <a:srgbClr val="8CACD9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shashankdeshmukh202@gmail.com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Github Repo: </a:t>
            </a:r>
            <a:pPr algn="l" indent="0" marL="0">
              <a:lnSpc>
                <a:spcPct val="117000"/>
              </a:lnSpc>
              <a:buNone/>
            </a:pPr>
            <a:r>
              <a:rPr lang="en-US" sz="1400" b="1" u="sng" dirty="0">
                <a:solidFill>
                  <a:srgbClr val="8CACD9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https://github.com/Shanky2003/customer-churn-prediction?tab=MIT-1-ov-file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7895" y="6466086"/>
            <a:ext cx="364907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Customer Churn Prediction using Machine Learning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2835" y="6466086"/>
            <a:ext cx="30886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8CACD9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2026-10-29T19:10:10Z</dcterms:created>
  <dcterms:modified xsi:type="dcterms:W3CDTF">2026-10-29T19:10:10Z</dcterms:modified>
</cp:coreProperties>
</file>